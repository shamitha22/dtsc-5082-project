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6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4"/>
  </p:normalViewPr>
  <p:slideViewPr>
    <p:cSldViewPr snapToGrid="0">
      <p:cViewPr varScale="1">
        <p:scale>
          <a:sx n="88" d="100"/>
          <a:sy n="88" d="100"/>
        </p:scale>
        <p:origin x="17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F5FF3A-3964-4BEB-A843-7C6A636BB95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28E53E2-8E74-4AB5-80A5-BA00E2F34158}">
      <dgm:prSet/>
      <dgm:spPr/>
      <dgm:t>
        <a:bodyPr/>
        <a:lstStyle/>
        <a:p>
          <a:r>
            <a:rPr lang="en-US" b="1" i="0"/>
            <a:t>Query → Embedding → FAISS Retrieval → LLM Explanation</a:t>
          </a:r>
          <a:endParaRPr lang="en-US"/>
        </a:p>
      </dgm:t>
    </dgm:pt>
    <dgm:pt modelId="{F502F5AB-37DB-4429-9AD0-0B81DDFEB6CD}" type="parTrans" cxnId="{FF443459-90F1-4142-B770-BE26BABB2488}">
      <dgm:prSet/>
      <dgm:spPr/>
      <dgm:t>
        <a:bodyPr/>
        <a:lstStyle/>
        <a:p>
          <a:endParaRPr lang="en-US"/>
        </a:p>
      </dgm:t>
    </dgm:pt>
    <dgm:pt modelId="{8084FAC5-9392-48DE-8F1C-D8ADB3305498}" type="sibTrans" cxnId="{FF443459-90F1-4142-B770-BE26BABB2488}">
      <dgm:prSet/>
      <dgm:spPr/>
      <dgm:t>
        <a:bodyPr/>
        <a:lstStyle/>
        <a:p>
          <a:endParaRPr lang="en-US"/>
        </a:p>
      </dgm:t>
    </dgm:pt>
    <dgm:pt modelId="{B366227D-9EC6-48A9-B4F7-5414FC11C8F2}">
      <dgm:prSet/>
      <dgm:spPr/>
      <dgm:t>
        <a:bodyPr/>
        <a:lstStyle/>
        <a:p>
          <a:r>
            <a:rPr lang="en-US" b="0" i="0"/>
            <a:t>System retrieves semantically similar captions</a:t>
          </a:r>
          <a:br>
            <a:rPr lang="en-US" b="0" i="0"/>
          </a:br>
          <a:r>
            <a:rPr lang="en-US" b="0" i="0"/>
            <a:t>Example:</a:t>
          </a:r>
          <a:br>
            <a:rPr lang="en-US" b="0" i="0"/>
          </a:br>
          <a:r>
            <a:rPr lang="en-US" b="0" i="0"/>
            <a:t>“Left lung opacity” → returns clinically relevant captions with similar findings</a:t>
          </a:r>
          <a:endParaRPr lang="en-US"/>
        </a:p>
      </dgm:t>
    </dgm:pt>
    <dgm:pt modelId="{46EFDF40-5956-4C9D-98BC-3181A575E229}" type="parTrans" cxnId="{A35E0857-D036-4AA0-BF6E-7DF3DE2EFA05}">
      <dgm:prSet/>
      <dgm:spPr/>
      <dgm:t>
        <a:bodyPr/>
        <a:lstStyle/>
        <a:p>
          <a:endParaRPr lang="en-US"/>
        </a:p>
      </dgm:t>
    </dgm:pt>
    <dgm:pt modelId="{15C11AE7-8482-4DAC-8673-535C5D402525}" type="sibTrans" cxnId="{A35E0857-D036-4AA0-BF6E-7DF3DE2EFA05}">
      <dgm:prSet/>
      <dgm:spPr/>
      <dgm:t>
        <a:bodyPr/>
        <a:lstStyle/>
        <a:p>
          <a:endParaRPr lang="en-US"/>
        </a:p>
      </dgm:t>
    </dgm:pt>
    <dgm:pt modelId="{005887C4-0D9E-A045-B353-A2D3A9294858}" type="pres">
      <dgm:prSet presAssocID="{53F5FF3A-3964-4BEB-A843-7C6A636BB9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75AD7E1-0417-3B48-86B2-59EDED757516}" type="pres">
      <dgm:prSet presAssocID="{B28E53E2-8E74-4AB5-80A5-BA00E2F34158}" presName="hierRoot1" presStyleCnt="0"/>
      <dgm:spPr/>
    </dgm:pt>
    <dgm:pt modelId="{724C538C-6531-3448-BC83-AEB322A31FA1}" type="pres">
      <dgm:prSet presAssocID="{B28E53E2-8E74-4AB5-80A5-BA00E2F34158}" presName="composite" presStyleCnt="0"/>
      <dgm:spPr/>
    </dgm:pt>
    <dgm:pt modelId="{5DCE6AAF-4E47-C046-9319-9E6A52D8E01D}" type="pres">
      <dgm:prSet presAssocID="{B28E53E2-8E74-4AB5-80A5-BA00E2F34158}" presName="background" presStyleLbl="node0" presStyleIdx="0" presStyleCnt="2"/>
      <dgm:spPr/>
    </dgm:pt>
    <dgm:pt modelId="{7F17FFA8-5EF8-F54B-A0AF-458E3CDC090A}" type="pres">
      <dgm:prSet presAssocID="{B28E53E2-8E74-4AB5-80A5-BA00E2F34158}" presName="text" presStyleLbl="fgAcc0" presStyleIdx="0" presStyleCnt="2">
        <dgm:presLayoutVars>
          <dgm:chPref val="3"/>
        </dgm:presLayoutVars>
      </dgm:prSet>
      <dgm:spPr/>
    </dgm:pt>
    <dgm:pt modelId="{D957F9BD-7C43-B64E-8A59-42D1E0BCD747}" type="pres">
      <dgm:prSet presAssocID="{B28E53E2-8E74-4AB5-80A5-BA00E2F34158}" presName="hierChild2" presStyleCnt="0"/>
      <dgm:spPr/>
    </dgm:pt>
    <dgm:pt modelId="{5EF27A49-393D-B14E-A725-7D944DAFB65A}" type="pres">
      <dgm:prSet presAssocID="{B366227D-9EC6-48A9-B4F7-5414FC11C8F2}" presName="hierRoot1" presStyleCnt="0"/>
      <dgm:spPr/>
    </dgm:pt>
    <dgm:pt modelId="{4B4E63F6-97ED-6740-99EA-F3C9A79856B1}" type="pres">
      <dgm:prSet presAssocID="{B366227D-9EC6-48A9-B4F7-5414FC11C8F2}" presName="composite" presStyleCnt="0"/>
      <dgm:spPr/>
    </dgm:pt>
    <dgm:pt modelId="{76EA947E-3DF8-C748-B53D-9E4DD5360BBE}" type="pres">
      <dgm:prSet presAssocID="{B366227D-9EC6-48A9-B4F7-5414FC11C8F2}" presName="background" presStyleLbl="node0" presStyleIdx="1" presStyleCnt="2"/>
      <dgm:spPr/>
    </dgm:pt>
    <dgm:pt modelId="{586118DD-A391-5A46-A153-CDC70680E9A4}" type="pres">
      <dgm:prSet presAssocID="{B366227D-9EC6-48A9-B4F7-5414FC11C8F2}" presName="text" presStyleLbl="fgAcc0" presStyleIdx="1" presStyleCnt="2">
        <dgm:presLayoutVars>
          <dgm:chPref val="3"/>
        </dgm:presLayoutVars>
      </dgm:prSet>
      <dgm:spPr/>
    </dgm:pt>
    <dgm:pt modelId="{447A354B-EE83-EB4B-A49C-E4945F5543F5}" type="pres">
      <dgm:prSet presAssocID="{B366227D-9EC6-48A9-B4F7-5414FC11C8F2}" presName="hierChild2" presStyleCnt="0"/>
      <dgm:spPr/>
    </dgm:pt>
  </dgm:ptLst>
  <dgm:cxnLst>
    <dgm:cxn modelId="{69B9D748-98E0-6C41-9DC5-1B61F4799D82}" type="presOf" srcId="{B28E53E2-8E74-4AB5-80A5-BA00E2F34158}" destId="{7F17FFA8-5EF8-F54B-A0AF-458E3CDC090A}" srcOrd="0" destOrd="0" presId="urn:microsoft.com/office/officeart/2005/8/layout/hierarchy1"/>
    <dgm:cxn modelId="{A35E0857-D036-4AA0-BF6E-7DF3DE2EFA05}" srcId="{53F5FF3A-3964-4BEB-A843-7C6A636BB95C}" destId="{B366227D-9EC6-48A9-B4F7-5414FC11C8F2}" srcOrd="1" destOrd="0" parTransId="{46EFDF40-5956-4C9D-98BC-3181A575E229}" sibTransId="{15C11AE7-8482-4DAC-8673-535C5D402525}"/>
    <dgm:cxn modelId="{FF443459-90F1-4142-B770-BE26BABB2488}" srcId="{53F5FF3A-3964-4BEB-A843-7C6A636BB95C}" destId="{B28E53E2-8E74-4AB5-80A5-BA00E2F34158}" srcOrd="0" destOrd="0" parTransId="{F502F5AB-37DB-4429-9AD0-0B81DDFEB6CD}" sibTransId="{8084FAC5-9392-48DE-8F1C-D8ADB3305498}"/>
    <dgm:cxn modelId="{486EEC69-A2F7-E149-8A95-68F4EE28493E}" type="presOf" srcId="{B366227D-9EC6-48A9-B4F7-5414FC11C8F2}" destId="{586118DD-A391-5A46-A153-CDC70680E9A4}" srcOrd="0" destOrd="0" presId="urn:microsoft.com/office/officeart/2005/8/layout/hierarchy1"/>
    <dgm:cxn modelId="{5D9932BD-6BAD-9B4E-BDD5-A26962A70360}" type="presOf" srcId="{53F5FF3A-3964-4BEB-A843-7C6A636BB95C}" destId="{005887C4-0D9E-A045-B353-A2D3A9294858}" srcOrd="0" destOrd="0" presId="urn:microsoft.com/office/officeart/2005/8/layout/hierarchy1"/>
    <dgm:cxn modelId="{7DF58D56-5B39-EC42-86AB-891E651008C9}" type="presParOf" srcId="{005887C4-0D9E-A045-B353-A2D3A9294858}" destId="{B75AD7E1-0417-3B48-86B2-59EDED757516}" srcOrd="0" destOrd="0" presId="urn:microsoft.com/office/officeart/2005/8/layout/hierarchy1"/>
    <dgm:cxn modelId="{2B443CAD-83E1-3D40-9134-789AEBAC5957}" type="presParOf" srcId="{B75AD7E1-0417-3B48-86B2-59EDED757516}" destId="{724C538C-6531-3448-BC83-AEB322A31FA1}" srcOrd="0" destOrd="0" presId="urn:microsoft.com/office/officeart/2005/8/layout/hierarchy1"/>
    <dgm:cxn modelId="{67A2E302-9BA2-7946-B793-565B34F58B9F}" type="presParOf" srcId="{724C538C-6531-3448-BC83-AEB322A31FA1}" destId="{5DCE6AAF-4E47-C046-9319-9E6A52D8E01D}" srcOrd="0" destOrd="0" presId="urn:microsoft.com/office/officeart/2005/8/layout/hierarchy1"/>
    <dgm:cxn modelId="{22D3DE75-7390-2749-AFF3-576C4B3F1FAA}" type="presParOf" srcId="{724C538C-6531-3448-BC83-AEB322A31FA1}" destId="{7F17FFA8-5EF8-F54B-A0AF-458E3CDC090A}" srcOrd="1" destOrd="0" presId="urn:microsoft.com/office/officeart/2005/8/layout/hierarchy1"/>
    <dgm:cxn modelId="{7CFBB228-096B-3A4F-836D-FF77D8E1B6C5}" type="presParOf" srcId="{B75AD7E1-0417-3B48-86B2-59EDED757516}" destId="{D957F9BD-7C43-B64E-8A59-42D1E0BCD747}" srcOrd="1" destOrd="0" presId="urn:microsoft.com/office/officeart/2005/8/layout/hierarchy1"/>
    <dgm:cxn modelId="{CF1EC7F9-D70F-0747-81A0-5DDBA3EE147F}" type="presParOf" srcId="{005887C4-0D9E-A045-B353-A2D3A9294858}" destId="{5EF27A49-393D-B14E-A725-7D944DAFB65A}" srcOrd="1" destOrd="0" presId="urn:microsoft.com/office/officeart/2005/8/layout/hierarchy1"/>
    <dgm:cxn modelId="{7EBC3347-74DA-FF45-AC1A-DDBF940B501D}" type="presParOf" srcId="{5EF27A49-393D-B14E-A725-7D944DAFB65A}" destId="{4B4E63F6-97ED-6740-99EA-F3C9A79856B1}" srcOrd="0" destOrd="0" presId="urn:microsoft.com/office/officeart/2005/8/layout/hierarchy1"/>
    <dgm:cxn modelId="{20B2BB8B-DC2E-7A4E-BE92-76BA0C130C9C}" type="presParOf" srcId="{4B4E63F6-97ED-6740-99EA-F3C9A79856B1}" destId="{76EA947E-3DF8-C748-B53D-9E4DD5360BBE}" srcOrd="0" destOrd="0" presId="urn:microsoft.com/office/officeart/2005/8/layout/hierarchy1"/>
    <dgm:cxn modelId="{E35039F7-7525-0042-9EE1-1F78046AEFEB}" type="presParOf" srcId="{4B4E63F6-97ED-6740-99EA-F3C9A79856B1}" destId="{586118DD-A391-5A46-A153-CDC70680E9A4}" srcOrd="1" destOrd="0" presId="urn:microsoft.com/office/officeart/2005/8/layout/hierarchy1"/>
    <dgm:cxn modelId="{426AED3F-DB75-8042-9083-BED0933C481E}" type="presParOf" srcId="{5EF27A49-393D-B14E-A725-7D944DAFB65A}" destId="{447A354B-EE83-EB4B-A49C-E4945F5543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E6AAF-4E47-C046-9319-9E6A52D8E01D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7FFA8-5EF8-F54B-A0AF-458E3CDC090A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Query → Embedding → FAISS Retrieval → LLM Explanation</a:t>
          </a:r>
          <a:endParaRPr lang="en-US" sz="2500" kern="1200"/>
        </a:p>
      </dsp:txBody>
      <dsp:txXfrm>
        <a:off x="585701" y="1066737"/>
        <a:ext cx="4337991" cy="2693452"/>
      </dsp:txXfrm>
    </dsp:sp>
    <dsp:sp modelId="{76EA947E-3DF8-C748-B53D-9E4DD5360BBE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118DD-A391-5A46-A153-CDC70680E9A4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System retrieves semantically similar captions</a:t>
          </a:r>
          <a:br>
            <a:rPr lang="en-US" sz="2500" b="0" i="0" kern="1200"/>
          </a:br>
          <a:r>
            <a:rPr lang="en-US" sz="2500" b="0" i="0" kern="1200"/>
            <a:t>Example:</a:t>
          </a:r>
          <a:br>
            <a:rPr lang="en-US" sz="2500" b="0" i="0" kern="1200"/>
          </a:br>
          <a:r>
            <a:rPr lang="en-US" sz="2500" b="0" i="0" kern="1200"/>
            <a:t>“Left lung opacity” → returns clinically relevant captions with similar findings</a:t>
          </a:r>
          <a:endParaRPr lang="en-US" sz="2500" kern="1200"/>
        </a:p>
      </dsp:txBody>
      <dsp:txXfrm>
        <a:off x="6092527" y="1066737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7AFB-6842-4E18-7812-9AACFE1DB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79DF1-C1A4-930B-1DB8-B9108488E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BA636-0266-B07E-1040-D5975B14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10023-03AA-4EC2-0A2C-C3752C88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F6AB0-4C04-34EE-802F-637E8448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9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A2036-8AC3-F1CA-90CA-7B49BD2A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828D-52D9-FD32-CD9E-66A4E5572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4C1EF-F757-7977-85D4-2D53155B0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288F7-CD13-AAB5-1970-9E626895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D7AC4-794C-205D-C1DE-B4B0E7FF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2BE1-35C4-FCC6-14E4-72EB0200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9BC43-789E-23E1-5FF5-8874BF82F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7292E-B70C-B44C-907B-6CCCB739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0BDE-6A76-03D2-79B5-A1CCA297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D6C22-CDC4-8856-8877-0C88D35D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BE8F-BCBE-2B1D-8642-D19E7FE0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6CE1C-3748-4F19-A0D6-A280D6E66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6788E-56A4-EE95-BFA9-DD00FB3AA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F18ED-6052-2BF4-67F0-B7909E86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47AE1-A01E-DC37-2861-FA7F2405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C889B-5648-288F-12B6-90FDA87D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3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25052-5ECB-0305-19F4-B7D1275B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0D7FD-AC94-C5CF-9176-7CB49FF6A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BC8AE-9C4E-9942-1F09-BE6045CEC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AFE6E-9D3D-B68F-4EC0-7BC854110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9E745-6255-072E-F66D-1C407310B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4153F-F293-E853-1232-18BB7D6C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D1001-9045-12B2-CDD2-9D17D8CC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414BC-D16C-C6DB-6358-D803ACC5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9D44-D180-70BD-C9F4-9672B5CAB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62C67-37BD-86E2-7B81-0B1E2910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AC378-4903-712E-8D85-4C0348C6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9F93A-BE40-AE2E-AA50-8E631DFD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0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5F93-8975-4ADA-DDE1-045CC7F5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6D2665-27B6-23D9-F1C7-596A7EF6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C41E6-64E3-B3EB-683F-74D7F79E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8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A950-6138-6E78-5C13-CFFBCB95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2A55F-BD5D-3606-8F86-C016E89DB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0797F-3E94-1399-ADCB-B9FD7BDCC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45B7D-7B25-A07F-43FA-83EDCE80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D6AA9-0A59-C6B6-962A-5956B5E8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AB1E0-BDB8-DE26-440A-FB616604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4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602F-6935-E1D8-8397-9C3C7316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CD6C5-D033-2F99-34F4-F6E63E037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AD82A-8A09-F79D-8BF9-E5EFA1173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C1230-4BA6-0DF2-06DE-F503703A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75D44-D787-3341-6C5F-1F8A1C64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2EC51-DA11-AA12-2379-3D583575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F88C-8E0F-A44D-7D6D-2E3769D4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B88FF-BF41-7626-4A25-48AA23FF0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F30C8-7A11-C147-643B-22D1636D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A3D02-C343-692B-D3B6-18AD3A0B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364C4-B66D-92F4-C823-36368445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1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8BF0A-DC92-F846-07FD-6B0968C03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CD8E1-E50C-6F84-BAFC-7E467C7CA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663C3-166E-8149-6EDA-6FC5AF2A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16836-4066-FAB8-2F21-0709B854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CF9F7-C248-963A-819D-F0FAA6CF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4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6E7C-1737-2706-3CDA-54986E10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35108-538F-72B8-1E27-8F0A6CE22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4313D-FBC4-E6A6-F171-A6F49D4AD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A0873-4620-A743-BDC6-661176678EA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D3D28-CC25-C753-959A-7C46EB755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E3C3-D3E0-4B7B-CF62-95C76DF98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BAB46-BC3A-4045-90C4-8806D3BF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2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AFE4B-12FF-281D-84AB-2C767D878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 b="0" i="0" u="none" strike="noStrike">
                <a:solidFill>
                  <a:srgbClr val="FFFFFF"/>
                </a:solidFill>
                <a:effectLst/>
                <a:latin typeface="-webkit-standard"/>
              </a:rPr>
              <a:t>Agentic Multimodal Medical Assistant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0642A-91A5-1C3E-C896-C8F9AD673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3730171"/>
            <a:ext cx="9078628" cy="2301543"/>
          </a:xfrm>
        </p:spPr>
        <p:txBody>
          <a:bodyPr anchor="ctr">
            <a:normAutofit/>
          </a:bodyPr>
          <a:lstStyle/>
          <a:p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Using </a:t>
            </a:r>
            <a:r>
              <a:rPr lang="en-US" sz="1500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MultiCaRe</a:t>
            </a: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Dataset</a:t>
            </a:r>
          </a:p>
          <a:p>
            <a:r>
              <a:rPr lang="en-US" sz="1500" b="1" i="0" u="none" strike="noStrike" dirty="0">
                <a:solidFill>
                  <a:srgbClr val="FFFFFF"/>
                </a:solidFill>
                <a:effectLst/>
              </a:rPr>
              <a:t>CARE CREW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Navya </a:t>
            </a:r>
            <a:r>
              <a:rPr lang="en-US" sz="1500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Kasula</a:t>
            </a: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| Prabhu Kiran </a:t>
            </a:r>
            <a:r>
              <a:rPr lang="en-US" sz="1500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Gummadi</a:t>
            </a: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| </a:t>
            </a:r>
            <a:r>
              <a:rPr lang="en-US" sz="1500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Gopikrishna</a:t>
            </a: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US" sz="1500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Dengu</a:t>
            </a: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| </a:t>
            </a:r>
            <a:r>
              <a:rPr lang="en-US" sz="1500" i="0" u="none" strike="noStrike" dirty="0">
                <a:solidFill>
                  <a:srgbClr val="FFFFFF"/>
                </a:solidFill>
                <a:effectLst/>
              </a:rPr>
              <a:t>Shamitha Reddy Cheedu</a:t>
            </a:r>
            <a:r>
              <a:rPr lang="en-US" sz="150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 </a:t>
            </a: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| </a:t>
            </a:r>
            <a:r>
              <a:rPr lang="en-US" sz="1500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Kruthi</a:t>
            </a: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Reddy </a:t>
            </a:r>
            <a:r>
              <a:rPr lang="en-US" sz="1500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Kasarla</a:t>
            </a:r>
            <a:endParaRPr lang="en-US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45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54F7E-9ECE-9559-5108-B5375E93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5200" b="0" i="0" u="none" strike="noStrike">
                <a:effectLst/>
                <a:latin typeface="-webkit-standard"/>
              </a:rPr>
              <a:t>PROJECT OBJECTIVES</a:t>
            </a:r>
            <a:endParaRPr lang="en-US" sz="52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842E-8D94-5D73-A788-1C554089A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Analyze multimodal medical data (images + captions + metadata)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Build text and image embeddings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Implement FAISS-based similarity search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Generate LLM-based medical explanations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Demonstrate an 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agentic AI workflow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 in a healthcare setting</a:t>
            </a: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38968-1953-03F2-432D-15B1ADD4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653" y="1962963"/>
            <a:ext cx="3548404" cy="3584247"/>
          </a:xfrm>
          <a:prstGeom prst="rect">
            <a:avLst/>
          </a:prstGeom>
        </p:spPr>
      </p:pic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4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3A1AC-A4DC-0241-C7D6-16A5AB37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0" i="0" u="none" strike="noStrike">
                <a:effectLst/>
                <a:latin typeface="-webkit-standard"/>
              </a:rPr>
              <a:t>DATASET OVERVIEW (MultiCaRe)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64E81-265D-1511-0452-C5665005A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/>
              <a:t>Multimodal medical dataset including: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1900"/>
              <a:t>Radiology images (CT / MRI / X-ray)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1900"/>
              <a:t>Pathology images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1900"/>
              <a:t>Expert-written captions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Metadata fields (image_type, generic_label, finding, laterality, site)</a:t>
            </a:r>
          </a:p>
          <a:p>
            <a:r>
              <a:rPr lang="en-US" sz="1900"/>
              <a:t>~135,000 caption records</a:t>
            </a:r>
          </a:p>
          <a:p>
            <a:r>
              <a:rPr lang="en-US" sz="1900"/>
              <a:t>~11,000 matched images</a:t>
            </a:r>
          </a:p>
          <a:p>
            <a:r>
              <a:rPr lang="en-US" sz="1900"/>
              <a:t>~5,000 cleaned samples used for analysis and modeling</a:t>
            </a:r>
          </a:p>
          <a:p>
            <a:endParaRPr lang="en-U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5DC8B-4E40-B7B9-82F6-034FAAD2FE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7" r="42177"/>
          <a:stretch>
            <a:fillRect/>
          </a:stretch>
        </p:blipFill>
        <p:spPr>
          <a:xfrm>
            <a:off x="6458858" y="2285999"/>
            <a:ext cx="5739968" cy="42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9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10334-8CA7-3FE7-DDA0-07D6E571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PROJECT STRUCTURE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214F0-2CC7-A859-E110-EC616FF11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b="1">
                <a:latin typeface="-webkit-standard"/>
              </a:rPr>
              <a:t>A</a:t>
            </a:r>
            <a:r>
              <a:rPr lang="en-US" sz="1900" b="1" i="0" u="none" strike="noStrike">
                <a:effectLst/>
                <a:latin typeface="-webkit-standard"/>
              </a:rPr>
              <a:t>nalytical understanding</a:t>
            </a:r>
            <a:endParaRPr lang="en-US" sz="1900" b="1"/>
          </a:p>
          <a:p>
            <a:r>
              <a:rPr lang="en-US" sz="1900"/>
              <a:t>Cleaning &amp; preprocessing</a:t>
            </a:r>
          </a:p>
          <a:p>
            <a:r>
              <a:rPr lang="en-US" sz="1900"/>
              <a:t>EDA</a:t>
            </a:r>
          </a:p>
          <a:p>
            <a:r>
              <a:rPr lang="en-US" sz="1900"/>
              <a:t>Feature engineering</a:t>
            </a:r>
          </a:p>
          <a:p>
            <a:r>
              <a:rPr lang="en-US" sz="1900"/>
              <a:t>Logistic regression + RFE</a:t>
            </a:r>
          </a:p>
          <a:p>
            <a:pPr marL="0" indent="0">
              <a:buNone/>
            </a:pPr>
            <a:r>
              <a:rPr lang="en-US" sz="1900" b="1">
                <a:latin typeface="-webkit-standard"/>
              </a:rPr>
              <a:t>W</a:t>
            </a:r>
            <a:r>
              <a:rPr lang="en-US" sz="1900" b="1" i="0" u="none" strike="noStrike">
                <a:effectLst/>
                <a:latin typeface="-webkit-standard"/>
              </a:rPr>
              <a:t>orking multimodal model pipeline</a:t>
            </a:r>
            <a:endParaRPr lang="en-US" sz="1900" b="1"/>
          </a:p>
          <a:p>
            <a:r>
              <a:rPr lang="en-US" sz="1900"/>
              <a:t>Text embeddings using transformers</a:t>
            </a:r>
          </a:p>
          <a:p>
            <a:r>
              <a:rPr lang="en-US" sz="1900"/>
              <a:t>Image embeddings using ResNet</a:t>
            </a:r>
          </a:p>
          <a:p>
            <a:r>
              <a:rPr lang="en-US" sz="1900"/>
              <a:t>FAISS retrieval</a:t>
            </a:r>
          </a:p>
          <a:p>
            <a:r>
              <a:rPr lang="en-US" sz="1900"/>
              <a:t>LLM answer generation</a:t>
            </a:r>
          </a:p>
          <a:p>
            <a:r>
              <a:rPr lang="en-US" sz="1900"/>
              <a:t>Agentic multimodal workflow demonstration</a:t>
            </a:r>
          </a:p>
          <a:p>
            <a:endParaRPr lang="en-U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08E12-2EFD-F699-3550-E3EE57C41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535515"/>
            <a:ext cx="3615776" cy="179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6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C77ABC-91F4-72DC-C785-90779596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DATA CLEANING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BB40-54C7-7C34-E3D6-A777F652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Standardized missing values</a:t>
            </a:r>
          </a:p>
          <a:p>
            <a:r>
              <a:rPr lang="en-US" sz="2000"/>
              <a:t>Filled categorical NaN using mode</a:t>
            </a:r>
          </a:p>
          <a:p>
            <a:r>
              <a:rPr lang="en-US" sz="2000"/>
              <a:t>Converted captions marked as empty to “Unknown”</a:t>
            </a:r>
          </a:p>
          <a:p>
            <a:r>
              <a:rPr lang="en-US" sz="2000"/>
              <a:t>Matched images to caption entries using ID mapping</a:t>
            </a:r>
          </a:p>
          <a:p>
            <a:r>
              <a:rPr lang="en-US" sz="2000"/>
              <a:t>Ensured complete multimodal pairs for modeling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202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4D9C1-50C6-EAB4-871C-12114FFA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Cleaning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EB9725A-BA0D-2308-C7A0-72F7AEA33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949" y="1966293"/>
            <a:ext cx="1072810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4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10D18-9BE3-62C0-F946-FB9F698D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EDA SUMMARY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60F6A-1090-5ACC-4E9B-856DEE2E1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Caption Length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Mean ≈ 137 characters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Long-tailed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Longer captions typically correspond to abnormal findings</a:t>
            </a:r>
          </a:p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Image Type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CT, MRI, and X-ray most frequent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Pathology images contain most detailed captions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8130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09BBC-8249-C9ED-706D-7304F333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METADATA PATTERNS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C64B-A608-B690-C962-5AB13C074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Pathology → long, rich captions</a:t>
            </a:r>
          </a:p>
          <a:p>
            <a:r>
              <a:rPr lang="en-US" sz="2000"/>
              <a:t>X-rays → short, structured captions</a:t>
            </a:r>
          </a:p>
          <a:p>
            <a:r>
              <a:rPr lang="en-US" sz="2000"/>
              <a:t>Strong relationships observed between: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generic_label</a:t>
            </a:r>
            <a:r>
              <a:rPr lang="en-US" sz="2000"/>
              <a:t> and </a:t>
            </a:r>
            <a:r>
              <a:rPr lang="en-US" sz="2000" b="1"/>
              <a:t>finding</a:t>
            </a:r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image_type</a:t>
            </a:r>
            <a:r>
              <a:rPr lang="en-US" sz="2000"/>
              <a:t> and </a:t>
            </a:r>
            <a:r>
              <a:rPr lang="en-US" sz="2000" b="1"/>
              <a:t>caption length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8873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62BAB-5130-0170-9664-81FFF81F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FEATURE ENGINEERING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EF3C6-E4DA-FCC6-3CC8-E700E0B86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0" i="0" u="none" strike="noStrike">
                <a:effectLst/>
              </a:rPr>
              <a:t>Created: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u="none" strike="noStrike">
                <a:effectLst/>
              </a:rPr>
              <a:t>caption_length</a:t>
            </a:r>
            <a:r>
              <a:rPr lang="en-US" sz="2000" b="0" i="0" u="none" strike="noStrike">
                <a:effectLst/>
              </a:rPr>
              <a:t> (numeric)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u="none" strike="noStrike">
                <a:effectLst/>
              </a:rPr>
              <a:t>has_finding</a:t>
            </a:r>
            <a:r>
              <a:rPr lang="en-US" sz="2000" b="0" i="0" u="none" strike="noStrike">
                <a:effectLst/>
              </a:rPr>
              <a:t> (binary)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u="none" strike="noStrike">
                <a:effectLst/>
              </a:rPr>
              <a:t>generic_label_enc</a:t>
            </a:r>
            <a:endParaRPr lang="en-US" sz="20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u="none" strike="noStrike">
                <a:effectLst/>
              </a:rPr>
              <a:t>image_type_enc</a:t>
            </a:r>
            <a:endParaRPr lang="en-US" sz="20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Missing values handled → complete dataset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3040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64454-0EA8-7343-4646-7E3F1FA33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LOGISTIC REGRESSION + RFE RESULTS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771FE-B041-ECB8-19FE-07136DCC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 i="0" u="none" strike="noStrike">
                <a:effectLst/>
              </a:rPr>
              <a:t>Top Predictors of Findings:</a:t>
            </a:r>
          </a:p>
          <a:p>
            <a:pPr>
              <a:buFont typeface="+mj-lt"/>
              <a:buAutoNum type="arabicPeriod"/>
            </a:pPr>
            <a:r>
              <a:rPr lang="en-US" sz="2000" b="1" i="0" u="none" strike="noStrike">
                <a:effectLst/>
              </a:rPr>
              <a:t>caption_length</a:t>
            </a:r>
            <a:endParaRPr lang="en-US" sz="2000" b="0" i="0" u="none" strike="noStrike">
              <a:effectLst/>
            </a:endParaRPr>
          </a:p>
          <a:p>
            <a:pPr>
              <a:buFont typeface="+mj-lt"/>
              <a:buAutoNum type="arabicPeriod"/>
            </a:pPr>
            <a:r>
              <a:rPr lang="en-US" sz="2000" b="1" i="0" u="none" strike="noStrike">
                <a:effectLst/>
              </a:rPr>
              <a:t>generic_label_enc</a:t>
            </a:r>
            <a:endParaRPr lang="en-US" sz="2000" b="0" i="0" u="none" strike="noStrike">
              <a:effectLst/>
            </a:endParaRPr>
          </a:p>
          <a:p>
            <a:pPr>
              <a:buFont typeface="+mj-lt"/>
              <a:buAutoNum type="arabicPeriod"/>
            </a:pPr>
            <a:r>
              <a:rPr lang="en-US" sz="2000" b="1" i="0" u="none" strike="noStrike">
                <a:effectLst/>
              </a:rPr>
              <a:t>image_type_enc</a:t>
            </a:r>
            <a:endParaRPr lang="en-US" sz="2000" b="0" i="0" u="none" strike="noStrike">
              <a:effectLst/>
            </a:endParaRPr>
          </a:p>
          <a:p>
            <a:r>
              <a:rPr lang="en-US" sz="2000" b="0" i="0" u="none" strike="noStrike">
                <a:effectLst/>
              </a:rPr>
              <a:t>Metadata + text structure alone provide consistent signals about abnormalities.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32749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260C7-42D6-A488-37B4-EAD641842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MULTIMODAL MODELING OVERVIEW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75DFD-1613-1EE3-947E-6EFDF1AC0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Text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SentenceTransformer (all-MiniLM-L6-v2)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Converts captions → 384-dimensional embeddings</a:t>
            </a:r>
          </a:p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Image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ResNet-50 pretrained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Converts images → 2048-dimensional feature vectors</a:t>
            </a:r>
          </a:p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Two FAISS indexes (text + image) for retrieval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9217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8A0C-DBB2-CC3C-170C-4EC3ED26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TEXT RETRIEVAL PIPELINE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9DD7AF-32B8-F057-8A6F-276C6BDEBD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48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8FAC81-6DBE-ED74-2C46-2F54C49D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0" i="0" u="none" strike="noStrike">
                <a:effectLst/>
                <a:latin typeface="-webkit-standard"/>
              </a:rPr>
              <a:t>IMAGE RETRIEVAL PIPELINE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0C60B-E919-CF77-69CC-C0C32D3FE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Image → ResNet Embedding → Image FAISS Search → Similar Images</a:t>
            </a:r>
            <a:endParaRPr lang="en-US" sz="2000" b="0" i="0" u="none" strike="noStrike">
              <a:effectLst/>
            </a:endParaRPr>
          </a:p>
          <a:p>
            <a:r>
              <a:rPr lang="en-US" sz="2000" b="0" i="0" u="none" strike="noStrike">
                <a:effectLst/>
              </a:rPr>
              <a:t>Used for visual comparison: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MRI → similar MRI scans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Chest CT → similar CT cases</a:t>
            </a:r>
          </a:p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507D4D-2EA4-ECEB-65AB-B97F034A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421" y="502020"/>
            <a:ext cx="3445465" cy="411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3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DEFB9-451E-DAD8-465A-EA07D5CB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 b="0" i="0" u="none" strike="noStrike" dirty="0">
                <a:effectLst/>
                <a:latin typeface="-webkit-standard"/>
              </a:rPr>
              <a:t>LLM RESPONSE GENERATION</a:t>
            </a:r>
            <a:endParaRPr lang="en-US" sz="4000" dirty="0"/>
          </a:p>
        </p:txBody>
      </p:sp>
      <p:pic>
        <p:nvPicPr>
          <p:cNvPr id="7" name="Graphic 6" descr="Subtitles">
            <a:extLst>
              <a:ext uri="{FF2B5EF4-FFF2-40B4-BE49-F238E27FC236}">
                <a16:creationId xmlns:a16="http://schemas.microsoft.com/office/drawing/2014/main" id="{6ECA6343-976F-B833-E87A-DA59F1CE8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DB4B-D3FA-549E-1D89-4A38FA782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0" i="0" u="none" strike="noStrike">
                <a:effectLst/>
              </a:rPr>
              <a:t>LLM takes: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Top-k retrieved captions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Optional image context</a:t>
            </a:r>
          </a:p>
          <a:p>
            <a:pPr marL="0" indent="0">
              <a:buNone/>
            </a:pPr>
            <a:r>
              <a:rPr lang="en-US" sz="1700" b="0" i="0" u="none" strike="noStrike">
                <a:effectLst/>
              </a:rPr>
              <a:t>Outputs: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Clinical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Summary of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Possible interpretations</a:t>
            </a:r>
          </a:p>
          <a:p>
            <a:pPr marL="0" indent="0">
              <a:buNone/>
            </a:pPr>
            <a:r>
              <a:rPr lang="en-US" sz="1700" b="0" i="0" u="none" strike="noStrike">
                <a:effectLst/>
              </a:rPr>
              <a:t>This forms a </a:t>
            </a:r>
            <a:r>
              <a:rPr lang="en-US" sz="1700" b="1" i="0" u="none" strike="noStrike">
                <a:effectLst/>
              </a:rPr>
              <a:t>retrieval-augmented medical assistant</a:t>
            </a:r>
            <a:r>
              <a:rPr lang="en-US" sz="1700" b="0" i="0" u="none" strike="noStrike">
                <a:effectLst/>
              </a:rPr>
              <a:t>.</a:t>
            </a:r>
          </a:p>
          <a:p>
            <a:endParaRPr lang="en-US" sz="17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9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44490-0D38-0BB3-A2B4-83E8A4CFD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AGENTIC WORKFLOW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EB3A4-BB2C-F5E4-32A6-D8830D872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Steps:</a:t>
            </a:r>
          </a:p>
          <a:p>
            <a:pPr>
              <a:buFont typeface="+mj-lt"/>
              <a:buAutoNum type="arabicPeriod"/>
            </a:pPr>
            <a:r>
              <a:rPr lang="en-US" sz="2000" b="0" i="0" u="none" strike="noStrike">
                <a:effectLst/>
              </a:rPr>
              <a:t>User inputs text/image</a:t>
            </a:r>
          </a:p>
          <a:p>
            <a:pPr>
              <a:buFont typeface="+mj-lt"/>
              <a:buAutoNum type="arabicPeriod"/>
            </a:pPr>
            <a:r>
              <a:rPr lang="en-US" sz="2000" b="0" i="0" u="none" strike="noStrike">
                <a:effectLst/>
              </a:rPr>
              <a:t>System retrieves top relevant cases</a:t>
            </a:r>
          </a:p>
          <a:p>
            <a:pPr>
              <a:buFont typeface="+mj-lt"/>
              <a:buAutoNum type="arabicPeriod"/>
            </a:pPr>
            <a:r>
              <a:rPr lang="en-US" sz="2000" b="0" i="0" u="none" strike="noStrike">
                <a:effectLst/>
              </a:rPr>
              <a:t>Constructs contextual prompt</a:t>
            </a:r>
          </a:p>
          <a:p>
            <a:pPr>
              <a:buFont typeface="+mj-lt"/>
              <a:buAutoNum type="arabicPeriod"/>
            </a:pPr>
            <a:r>
              <a:rPr lang="en-US" sz="2000" b="0" i="0" u="none" strike="noStrike">
                <a:effectLst/>
              </a:rPr>
              <a:t>LLM generates medical explanation</a:t>
            </a:r>
          </a:p>
          <a:p>
            <a:pPr>
              <a:buFont typeface="+mj-lt"/>
              <a:buAutoNum type="arabicPeriod"/>
            </a:pPr>
            <a:r>
              <a:rPr lang="en-US" sz="2000" b="0" i="0" u="none" strike="noStrike">
                <a:effectLst/>
              </a:rPr>
              <a:t>(Optional) Reflection/correction</a:t>
            </a:r>
          </a:p>
          <a:p>
            <a:pPr marL="0" indent="0">
              <a:buNone/>
            </a:pPr>
            <a:r>
              <a:rPr lang="en-US" sz="2000" b="0" i="0" u="none" strike="noStrike">
                <a:effectLst/>
              </a:rPr>
              <a:t>Mimics a real-world medical AI assistant with reasoning capability.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33725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866C09-BFD4-735B-908D-2F502154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0" i="0" u="none" strike="noStrike">
                <a:effectLst/>
                <a:latin typeface="-webkit-standard"/>
              </a:rPr>
              <a:t>SYSTEM DEMONSTRATION</a:t>
            </a:r>
            <a:endParaRPr lang="en-US" sz="3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84DE4-746A-EE7E-EA21-49680D48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Text query → similar caption retrieval output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B283273-E7DB-E9EC-E804-4820DD84B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750965"/>
            <a:ext cx="6440424" cy="330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37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12F6A-208C-60A7-2C5A-DEFDD1C64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0" i="0" u="none" strike="noStrike">
                <a:effectLst/>
                <a:latin typeface="-webkit-standard"/>
              </a:rPr>
              <a:t>SYSTEM DEMONSTRATION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B40C-16F8-9E83-611E-7FC757E6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Image query → similar image clustering</a:t>
            </a:r>
          </a:p>
          <a:p>
            <a:r>
              <a:rPr lang="en-US" sz="2000"/>
              <a:t>LLM → structured diagnostic explanation</a:t>
            </a:r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8" name="Picture 7" descr="Close-up of a medical device&#10;&#10;Description automatically generated">
            <a:extLst>
              <a:ext uri="{FF2B5EF4-FFF2-40B4-BE49-F238E27FC236}">
                <a16:creationId xmlns:a16="http://schemas.microsoft.com/office/drawing/2014/main" id="{8D62BA11-2013-5302-49DA-55C259D2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3" r="53221" b="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64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569E3-08E0-7C3C-205B-ADD382E0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KEY OUTCOMES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1DB1-23C4-EA30-1833-C0D4B552F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Working multimodal prototype</a:t>
            </a:r>
          </a:p>
          <a:p>
            <a:r>
              <a:rPr lang="en-US" sz="2000"/>
              <a:t>Retrieval-enabled similarity engine</a:t>
            </a:r>
          </a:p>
          <a:p>
            <a:r>
              <a:rPr lang="en-US" sz="2000"/>
              <a:t>Metadata strongly correlates with findings</a:t>
            </a:r>
          </a:p>
          <a:p>
            <a:r>
              <a:rPr lang="en-US" sz="2000"/>
              <a:t>LLM explanations contextual and medically coherent</a:t>
            </a:r>
          </a:p>
          <a:p>
            <a:r>
              <a:rPr lang="en-US" sz="2000"/>
              <a:t>Demonstrates full agentic pipeline from input → retrieval → reasoning → output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42748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CE083-36F9-8AB2-E66B-FF8EE152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LIMITATIONS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8A5D-FCEA-E86B-49D2-3DCF4CA7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No end-to-end multimodal fusion model</a:t>
            </a:r>
          </a:p>
          <a:p>
            <a:r>
              <a:rPr lang="en-US" sz="2000"/>
              <a:t>No medical-domain fine-tuning (BioCLIP/LLaVA-Med)</a:t>
            </a:r>
          </a:p>
          <a:p>
            <a:r>
              <a:rPr lang="en-US" sz="2000"/>
              <a:t>Sparse metadata in some fields</a:t>
            </a:r>
          </a:p>
          <a:p>
            <a:r>
              <a:rPr lang="en-US" sz="2000"/>
              <a:t>Limited compute for large-scale experiments</a:t>
            </a:r>
          </a:p>
          <a:p>
            <a:r>
              <a:rPr lang="en-US" sz="2000"/>
              <a:t>No clinical validation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01026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E2757-02F8-2E64-7FCB-E13B00187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FUTURE WORK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77BCD-08D7-F18F-9022-B2A80EDF4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Federated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Train across hospitals without sharing raw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Enhances privacy &amp; increases real-world potential</a:t>
            </a:r>
          </a:p>
          <a:p>
            <a:pPr marL="0" indent="0">
              <a:buNone/>
            </a:pPr>
            <a:r>
              <a:rPr lang="en-US" sz="2000" b="1" i="0" u="none" strike="noStrike">
                <a:effectLst/>
              </a:rPr>
              <a:t>Fine-tuned CLIP-Style Medical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Joint image–text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</a:rPr>
              <a:t>Improved alignment &amp; accuracy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83127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6EDF7-BC97-8F9B-FFAC-7E00725A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-webkit-standard"/>
              </a:rPr>
              <a:t>CONCLUSION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E361-5D5C-FBBF-33E0-8DA6249AA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Successful demonstration of a multimodal agentic assistant</a:t>
            </a:r>
          </a:p>
          <a:p>
            <a:r>
              <a:rPr lang="en-US" sz="2000"/>
              <a:t>Found significant patterns in medical text + image metadata</a:t>
            </a:r>
          </a:p>
          <a:p>
            <a:r>
              <a:rPr lang="en-US" sz="2000"/>
              <a:t>Functional retrieval + LLM reasoning pipeline</a:t>
            </a:r>
          </a:p>
          <a:p>
            <a:r>
              <a:rPr lang="en-US" sz="2000"/>
              <a:t>Strong foundation for future clinical AI systems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84948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A20AB-E901-5EBA-5F28-717E5E90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THANK YOU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5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626</Words>
  <Application>Microsoft Macintosh PowerPoint</Application>
  <PresentationFormat>Widescreen</PresentationFormat>
  <Paragraphs>137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-webkit-standard</vt:lpstr>
      <vt:lpstr>Aptos</vt:lpstr>
      <vt:lpstr>Aptos Display</vt:lpstr>
      <vt:lpstr>Arial</vt:lpstr>
      <vt:lpstr>Calibri</vt:lpstr>
      <vt:lpstr>Office Theme</vt:lpstr>
      <vt:lpstr>Agentic Multimodal Medical Assistant</vt:lpstr>
      <vt:lpstr>PROJECT OBJECTIVES</vt:lpstr>
      <vt:lpstr>DATASET OVERVIEW (MultiCaRe)</vt:lpstr>
      <vt:lpstr>PROJECT STRUCTURE</vt:lpstr>
      <vt:lpstr>DATA CLEANING</vt:lpstr>
      <vt:lpstr>Data Cleaning</vt:lpstr>
      <vt:lpstr>EDA SUMMARY</vt:lpstr>
      <vt:lpstr>METADATA PATTERNS</vt:lpstr>
      <vt:lpstr>FEATURE ENGINEERING</vt:lpstr>
      <vt:lpstr>LOGISTIC REGRESSION + RFE RESULTS</vt:lpstr>
      <vt:lpstr>MULTIMODAL MODELING OVERVIEW</vt:lpstr>
      <vt:lpstr>TEXT RETRIEVAL PIPELINE</vt:lpstr>
      <vt:lpstr>IMAGE RETRIEVAL PIPELINE</vt:lpstr>
      <vt:lpstr>LLM RESPONSE GENERATION</vt:lpstr>
      <vt:lpstr>AGENTIC WORKFLOW</vt:lpstr>
      <vt:lpstr>SYSTEM DEMONSTRATION</vt:lpstr>
      <vt:lpstr>SYSTEM DEMONSTRATION</vt:lpstr>
      <vt:lpstr>KEY OUTCOMES</vt:lpstr>
      <vt:lpstr>LIMITATIONS</vt:lpstr>
      <vt:lpstr>FUTURE WORK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Cheedu, Shamitha Reddy</dc:creator>
  <cp:lastModifiedBy>Cheedu, Shamitha Reddy</cp:lastModifiedBy>
  <cp:revision>1</cp:revision>
  <dcterms:created xsi:type="dcterms:W3CDTF">2025-11-20T16:36:25Z</dcterms:created>
  <dcterms:modified xsi:type="dcterms:W3CDTF">2025-11-20T17:42:47Z</dcterms:modified>
</cp:coreProperties>
</file>